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d4e25b134a49bd" /><Relationship Type="http://schemas.openxmlformats.org/officeDocument/2006/relationships/extended-properties" Target="/docProps/app.xml" Id="Ra7d06636d5124b76" /><Relationship Type="http://schemas.openxmlformats.org/officeDocument/2006/relationships/officeDocument" Target="/ppt/presentation.xml" Id="R8f88a413cc8d426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47f1d3f311242d9"/>
  </p:sldMasterIdLst>
  <p:notesMasterIdLst>
    <p:notesMasterId xmlns:r="http://schemas.openxmlformats.org/officeDocument/2006/relationships" r:id="Rcd9fd7e44d4345b9"/>
  </p:notesMasterIdLst>
  <p:sldIdLst>
    <p:sldId xmlns:r="http://schemas.openxmlformats.org/officeDocument/2006/relationships" id="256" r:id="Ra1099725cc394175"/>
    <p:sldId xmlns:r="http://schemas.openxmlformats.org/officeDocument/2006/relationships" id="257" r:id="R9e5d41e1a529496b"/>
    <p:sldId xmlns:r="http://schemas.openxmlformats.org/officeDocument/2006/relationships" id="258" r:id="Rc706d727988b4a67"/>
    <p:sldId xmlns:r="http://schemas.openxmlformats.org/officeDocument/2006/relationships" id="259" r:id="Rbd47717da4574d97"/>
    <p:sldId xmlns:r="http://schemas.openxmlformats.org/officeDocument/2006/relationships" id="260" r:id="Ra10006e341454868"/>
    <p:sldId xmlns:r="http://schemas.openxmlformats.org/officeDocument/2006/relationships" id="261" r:id="R3ec2f5106d6d410a"/>
    <p:sldId xmlns:r="http://schemas.openxmlformats.org/officeDocument/2006/relationships" id="262" r:id="Rfb6b94904eb342c6"/>
    <p:sldId xmlns:r="http://schemas.openxmlformats.org/officeDocument/2006/relationships" id="263" r:id="Rd9a78b979eab4991"/>
    <p:sldId xmlns:r="http://schemas.openxmlformats.org/officeDocument/2006/relationships" id="264" r:id="R8ae90b96c30a4a88"/>
    <p:sldId xmlns:r="http://schemas.openxmlformats.org/officeDocument/2006/relationships" id="265" r:id="Rf9de7334e31c4ac3"/>
    <p:sldId xmlns:r="http://schemas.openxmlformats.org/officeDocument/2006/relationships" id="266" r:id="R2ce5e18c1f904258"/>
    <p:sldId xmlns:r="http://schemas.openxmlformats.org/officeDocument/2006/relationships" id="267" r:id="Rf908f1067eb74dc8"/>
    <p:sldId xmlns:r="http://schemas.openxmlformats.org/officeDocument/2006/relationships" id="268" r:id="R17ae8279df16434b"/>
    <p:sldId xmlns:r="http://schemas.openxmlformats.org/officeDocument/2006/relationships" id="269" r:id="R49d1dddd20904c7e"/>
  </p:sldIdLst>
  <p:sldSz cx="12192000" cy="6858000"/>
  <p:notesSz cx="6858000" cy="9144000"/>
  <p:embeddedFontLst>
    <p:embeddedFont>
      <p:font typeface="OpenAI Sans"/>
      <p:regular xmlns:r="http://schemas.openxmlformats.org/officeDocument/2006/relationships" r:id="Rffd044f9bdff45f3"/>
      <p:bold xmlns:r="http://schemas.openxmlformats.org/officeDocument/2006/relationships" r:id="R458f34a825d14aff"/>
      <p:italic xmlns:r="http://schemas.openxmlformats.org/officeDocument/2006/relationships" r:id="Rbbb9a34e6e6b4be1"/>
      <p:boldItalic xmlns:r="http://schemas.openxmlformats.org/officeDocument/2006/relationships" r:id="R1f2126818d33452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0bf0a242654d69" /><Relationship Type="http://schemas.openxmlformats.org/officeDocument/2006/relationships/slideMaster" Target="/ppt/slideMasters/slideMaster1.xml" Id="R547f1d3f311242d9" /><Relationship Type="http://schemas.openxmlformats.org/officeDocument/2006/relationships/notesMaster" Target="/ppt/notesMasters/notesMaster1.xml" Id="Rcd9fd7e44d4345b9" /><Relationship Type="http://schemas.openxmlformats.org/officeDocument/2006/relationships/presProps" Target="/ppt/presProps.xml" Id="R18c322b8f8a94844" /><Relationship Type="http://schemas.openxmlformats.org/officeDocument/2006/relationships/viewProps" Target="/ppt/viewProps.xml" Id="R92fc3a9e46e24e12" /><Relationship Type="http://schemas.openxmlformats.org/officeDocument/2006/relationships/tableStyles" Target="/ppt/tableStyles.xml" Id="R02dc2b495a2c4023" /><Relationship Type="http://schemas.openxmlformats.org/officeDocument/2006/relationships/font" Target="/ppt/fonts/font.dat" Id="Rffd044f9bdff45f3" /><Relationship Type="http://schemas.openxmlformats.org/officeDocument/2006/relationships/font" Target="/ppt/fonts/font2.dat" Id="R458f34a825d14aff" /><Relationship Type="http://schemas.openxmlformats.org/officeDocument/2006/relationships/font" Target="/ppt/fonts/font3.dat" Id="Rbbb9a34e6e6b4be1" /><Relationship Type="http://schemas.openxmlformats.org/officeDocument/2006/relationships/font" Target="/ppt/fonts/font4.dat" Id="R1f2126818d33452f" /><Relationship Type="http://schemas.openxmlformats.org/officeDocument/2006/relationships/slide" Target="/ppt/slides/slide1.xml" Id="Ra1099725cc394175" /><Relationship Type="http://schemas.openxmlformats.org/officeDocument/2006/relationships/slide" Target="/ppt/slides/slide2.xml" Id="R9e5d41e1a529496b" /><Relationship Type="http://schemas.openxmlformats.org/officeDocument/2006/relationships/slide" Target="/ppt/slides/slide3.xml" Id="Rc706d727988b4a67" /><Relationship Type="http://schemas.openxmlformats.org/officeDocument/2006/relationships/slide" Target="/ppt/slides/slide4.xml" Id="Rbd47717da4574d97" /><Relationship Type="http://schemas.openxmlformats.org/officeDocument/2006/relationships/slide" Target="/ppt/slides/slide5.xml" Id="Ra10006e341454868" /><Relationship Type="http://schemas.openxmlformats.org/officeDocument/2006/relationships/slide" Target="/ppt/slides/slide6.xml" Id="R3ec2f5106d6d410a" /><Relationship Type="http://schemas.openxmlformats.org/officeDocument/2006/relationships/slide" Target="/ppt/slides/slide7.xml" Id="Rfb6b94904eb342c6" /><Relationship Type="http://schemas.openxmlformats.org/officeDocument/2006/relationships/slide" Target="/ppt/slides/slide8.xml" Id="Rd9a78b979eab4991" /><Relationship Type="http://schemas.openxmlformats.org/officeDocument/2006/relationships/slide" Target="/ppt/slides/slide9.xml" Id="R8ae90b96c30a4a88" /><Relationship Type="http://schemas.openxmlformats.org/officeDocument/2006/relationships/slide" Target="/ppt/slides/slide10.xml" Id="Rf9de7334e31c4ac3" /><Relationship Type="http://schemas.openxmlformats.org/officeDocument/2006/relationships/slide" Target="/ppt/slides/slide11.xml" Id="R2ce5e18c1f904258" /><Relationship Type="http://schemas.openxmlformats.org/officeDocument/2006/relationships/slide" Target="/ppt/slides/slide12.xml" Id="Rf908f1067eb74dc8" /><Relationship Type="http://schemas.openxmlformats.org/officeDocument/2006/relationships/slide" Target="/ppt/slides/slide13.xml" Id="R17ae8279df16434b" /><Relationship Type="http://schemas.openxmlformats.org/officeDocument/2006/relationships/slide" Target="/ppt/slides/slide14.xml" Id="R49d1dddd20904c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a75489be6544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6a924b9f55439d" /><Relationship Type="http://schemas.openxmlformats.org/officeDocument/2006/relationships/notesMaster" Target="/ppt/notesMasters/notesMaster1.xml" Id="R5844c709894c46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1592d24a484fed" /><Relationship Type="http://schemas.openxmlformats.org/officeDocument/2006/relationships/notesMaster" Target="/ppt/notesMasters/notesMaster1.xml" Id="Rf1bb55aa918546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650f68724d4866" /><Relationship Type="http://schemas.openxmlformats.org/officeDocument/2006/relationships/notesMaster" Target="/ppt/notesMasters/notesMaster1.xml" Id="R35a7d310f68743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3596c008294657" /><Relationship Type="http://schemas.openxmlformats.org/officeDocument/2006/relationships/notesMaster" Target="/ppt/notesMasters/notesMaster1.xml" Id="Rb27fa82b3c7b45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d8698383ff4ece" /><Relationship Type="http://schemas.openxmlformats.org/officeDocument/2006/relationships/notesMaster" Target="/ppt/notesMasters/notesMaster1.xml" Id="R346722c41ac041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5d6209f9404a0b" /><Relationship Type="http://schemas.openxmlformats.org/officeDocument/2006/relationships/notesMaster" Target="/ppt/notesMasters/notesMaster1.xml" Id="R1685a9c986f34a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a45c42d7624556" /><Relationship Type="http://schemas.openxmlformats.org/officeDocument/2006/relationships/notesMaster" Target="/ppt/notesMasters/notesMaster1.xml" Id="Rc5def4441da044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eb3cf56eaa4a94" /><Relationship Type="http://schemas.openxmlformats.org/officeDocument/2006/relationships/notesMaster" Target="/ppt/notesMasters/notesMaster1.xml" Id="Rd68db3a3a39f4d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6f4b20e9d44995" /><Relationship Type="http://schemas.openxmlformats.org/officeDocument/2006/relationships/notesMaster" Target="/ppt/notesMasters/notesMaster1.xml" Id="R320066f376fc4c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0cb6d00ac949b7" /><Relationship Type="http://schemas.openxmlformats.org/officeDocument/2006/relationships/notesMaster" Target="/ppt/notesMasters/notesMaster1.xml" Id="R6afe813a6b6d446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c3de3231ab46f9" /><Relationship Type="http://schemas.openxmlformats.org/officeDocument/2006/relationships/notesMaster" Target="/ppt/notesMasters/notesMaster1.xml" Id="Rdc2fab6277c345d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f3bdc33ada458c" /><Relationship Type="http://schemas.openxmlformats.org/officeDocument/2006/relationships/notesMaster" Target="/ppt/notesMasters/notesMaster1.xml" Id="R2a45336c799f41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f620eb11f54f4c" /><Relationship Type="http://schemas.openxmlformats.org/officeDocument/2006/relationships/notesMaster" Target="/ppt/notesMasters/notesMaster1.xml" Id="Re41c4180473d420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2f0574757984cd5" /><Relationship Type="http://schemas.openxmlformats.org/officeDocument/2006/relationships/notesMaster" Target="/ppt/notesMasters/notesMaster1.xml" Id="Rc45524d7eb064a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fictional Northstar organization. The project demonstrates a local IT support workflow. The photograph belongs to the selected Simple Dark Mode template and serves as decorative artwork.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Explain the business problem without claiming measured productivity gains. No real enterprise integration is required by the supplied brief.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Open store.py to show search, lookup and create. These are actual SQLite-backed functions. The shared LangGraph tools node dispatches the selected function.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ops_assistant/agent.py. Diagram: docs/architecture.mmd. LangGraph reference: https://docs.langchain.com/oss/python/langgraph/graph-api . Explain START, decision, conditional edges, prepare/tools, response and END.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ops_assistant/router.py. API reference: https://developers.openai.com/api/docs/guides/function-calling . The SDK uses Chat Completions with exactly one function call requested. Tool choice is required, with answer and clarify schemas for no-tool behavior. Actual tool results are formatted locally.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Assistant.state and app.py. History is bounded to 20 turns. A profile change replaces the assistant. There is no durable LangGraph checkpointer, so server restart or session loss removes conversation memory.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Please raise a ticket, then My printer prints blank pages, then confirm. There is no write during draft preparation. The exact confirm message uses the existing draft and bypasses the LLM.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data/seed.json and store.py. Duplicate scope is employee plus normalized description. Case, punctuation and whitespace normalize away. Paraphrased issues can still produce separate tickets. Tickets use UTC timestamps and generated IDs.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tests/test_assistant.py. The model cannot select employee identity through its function arguments. The profile selector remains a local demo feature, not authentication. SQL parameters and transaction boundaries protect database operations.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app.py. During the live demonstration expand Tool results and workflow. Responses use text rendering so stored content does not become executable markup. LLM mode discloses provider transmission.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docs/VALIDATION.md, tests/, docs/demo-transcript.txt. Initial run: 21 passed in 12.60 seconds on Windows with Python 3.12. The SDK contract test is mocked. No model accuracy or production performance claim is made.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docs/DEMO_GUIDE.md for the complete seven-minute walkthrough, including missing data, cancellation, reset and employee isolation. Configure LLM mode for the GenAI criterion. A transcript does not replace the required live demonstration or video.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docs/OPERATIONS.md. Describe this as a tested local submission with production-oriented practices. Do not claim internet-facing production readiness. Lexical retrieval and exact duplicate detection are documented limitations.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 package includes README, sample data, configuration, architecture and tests. GitHub publication needs authenticated account access. The live evaluation or recording and a live LLM acceptance run remain submission steps.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79454f7f9d4b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94eb3420a94b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20ed8f0e645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f42f0782164a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4fa25cb0004e6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37d5548502420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d27d564e0f43c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e3212649e541d1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4f934976474ce7" /><Relationship Type="http://schemas.openxmlformats.org/officeDocument/2006/relationships/slideLayout" Target="/ppt/slideLayouts/slideLayout1.xml" Id="R9832c282319944ed" /><Relationship Type="http://schemas.openxmlformats.org/officeDocument/2006/relationships/slideLayout" Target="/ppt/slideLayouts/slideLayout2.xml" Id="Rb0cca2f30e344451" /><Relationship Type="http://schemas.openxmlformats.org/officeDocument/2006/relationships/slideLayout" Target="/ppt/slideLayouts/slideLayout3.xml" Id="R71ed83c85d72427a" /><Relationship Type="http://schemas.openxmlformats.org/officeDocument/2006/relationships/slideLayout" Target="/ppt/slideLayouts/slideLayout4.xml" Id="R334c03fda4814690" /><Relationship Type="http://schemas.openxmlformats.org/officeDocument/2006/relationships/slideLayout" Target="/ppt/slideLayouts/slideLayout5.xml" Id="Rbf385b232a374453" /><Relationship Type="http://schemas.openxmlformats.org/officeDocument/2006/relationships/slideLayout" Target="/ppt/slideLayouts/slideLayout6.xml" Id="R81c67cbaa1e14903" /><Relationship Type="http://schemas.openxmlformats.org/officeDocument/2006/relationships/slideLayout" Target="/ppt/slideLayouts/slideLayout7.xml" Id="Re6c6ae852d634212" /><Relationship Type="http://schemas.openxmlformats.org/officeDocument/2006/relationships/slideLayout" Target="/ppt/slideLayouts/slideLayout8.xml" Id="Rfda03fe7050c4a9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32c282319944ed"/>
    <p:sldLayoutId xmlns:r="http://schemas.openxmlformats.org/officeDocument/2006/relationships" id="2147483650" r:id="Rb0cca2f30e344451"/>
    <p:sldLayoutId xmlns:r="http://schemas.openxmlformats.org/officeDocument/2006/relationships" id="2147483651" r:id="R71ed83c85d72427a"/>
    <p:sldLayoutId xmlns:r="http://schemas.openxmlformats.org/officeDocument/2006/relationships" id="2147483652" r:id="R334c03fda4814690"/>
    <p:sldLayoutId xmlns:r="http://schemas.openxmlformats.org/officeDocument/2006/relationships" id="2147483653" r:id="Rbf385b232a374453"/>
    <p:sldLayoutId xmlns:r="http://schemas.openxmlformats.org/officeDocument/2006/relationships" id="2147483654" r:id="R81c67cbaa1e14903"/>
    <p:sldLayoutId xmlns:r="http://schemas.openxmlformats.org/officeDocument/2006/relationships" id="2147483655" r:id="Re6c6ae852d634212"/>
    <p:sldLayoutId xmlns:r="http://schemas.openxmlformats.org/officeDocument/2006/relationships" id="2147483656" r:id="Rfda03fe7050c4a98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d3601ee794adf" /><Relationship Type="http://schemas.openxmlformats.org/officeDocument/2006/relationships/image" Target="/ppt/media/image.png" Id="R79a0799e32e540f5" /><Relationship Type="http://schemas.openxmlformats.org/officeDocument/2006/relationships/notesSlide" Target="/ppt/notesSlides/notesSlide1.xml" Id="R6946dc5d07b341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4106d2f77f4973" /><Relationship Type="http://schemas.openxmlformats.org/officeDocument/2006/relationships/notesSlide" Target="/ppt/notesSlides/notesSlide2.xml" Id="R961d3600dc8743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4a2710789a483b" /><Relationship Type="http://schemas.openxmlformats.org/officeDocument/2006/relationships/notesSlide" Target="/ppt/notesSlides/notesSlide3.xml" Id="Re911746abc534e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a4729e951e4164" /><Relationship Type="http://schemas.openxmlformats.org/officeDocument/2006/relationships/notesSlide" Target="/ppt/notesSlides/notesSlide4.xml" Id="Rbac30cbd97454b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930eaae4944a61" /><Relationship Type="http://schemas.openxmlformats.org/officeDocument/2006/relationships/notesSlide" Target="/ppt/notesSlides/notesSlide5.xml" Id="Re7bed8265a414e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2ae5287ce94847" /><Relationship Type="http://schemas.openxmlformats.org/officeDocument/2006/relationships/notesSlide" Target="/ppt/notesSlides/notesSlide6.xml" Id="Rc42aed356c844f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cac8acbdb74896" /><Relationship Type="http://schemas.openxmlformats.org/officeDocument/2006/relationships/notesSlide" Target="/ppt/notesSlides/notesSlide7.xml" Id="R56643cdcdb6140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f314e839bd4204" /><Relationship Type="http://schemas.openxmlformats.org/officeDocument/2006/relationships/notesSlide" Target="/ppt/notesSlides/notesSlide8.xml" Id="R5f7905e91d5645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9c614a1cf24f46" /><Relationship Type="http://schemas.openxmlformats.org/officeDocument/2006/relationships/notesSlide" Target="/ppt/notesSlides/notesSlide9.xml" Id="Rb5ebbda8a9fb4c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47049692ab47c6" /><Relationship Type="http://schemas.openxmlformats.org/officeDocument/2006/relationships/notesSlide" Target="/ppt/notesSlides/notesSlide10.xml" Id="Recc5c1f72d4048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9022313e04446b" /><Relationship Type="http://schemas.openxmlformats.org/officeDocument/2006/relationships/notesSlide" Target="/ppt/notesSlides/notesSlide11.xml" Id="R8f21e4e490254a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cb2aaec9904549" /><Relationship Type="http://schemas.openxmlformats.org/officeDocument/2006/relationships/notesSlide" Target="/ppt/notesSlides/notesSlide12.xml" Id="Re87d667af8a747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1b8cc5c08041c3" /><Relationship Type="http://schemas.openxmlformats.org/officeDocument/2006/relationships/notesSlide" Target="/ppt/notesSlides/notesSlide13.xml" Id="Rb75171e2374a47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a9687987b49dd" /><Relationship Type="http://schemas.openxmlformats.org/officeDocument/2006/relationships/notesSlide" Target="/ppt/notesSlides/notesSlide14.xml" Id="Ref2826b96304473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C47CD47D-0812-5F5E-8AA0-B4316F994F4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15733" y="1907316"/>
            <a:ext cx="7174888" cy="249149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rPr sz="6200"/>
              <a:t>AI Operations</a:t>
            </a:r>
          </a:p>
          <a:p xmlns:a="http://schemas.openxmlformats.org/drawingml/2006/main">
            <a:r>
              <a:rPr sz="6200"/>
              <a:t>Assistant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283B85AD-626B-46B7-0C36-31F5BABDE1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15733" y="5264722"/>
            <a:ext cx="6910483" cy="1080246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9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Rajat Singodia</a:t>
            </a:r>
          </a:p>
          <a:p xmlns:a="http://schemas.openxmlformats.org/drawingml/2006/main">
            <a:pPr>
              <a:defRPr sz="19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9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Northstar IT Support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543BAB87-2ABE-9D84-8400-3B5ABA08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734" y="392241"/>
            <a:ext cx="57023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Project 3 · Agentic AI</a:t>
            </a:r>
          </a:p>
        </p:txBody>
      </p:sp>
      <p:pic>
        <p:nvPicPr>
          <p:cNvPr id="11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a0799e32e540f5"/>
          <a:srcRect xmlns:a="http://schemas.openxmlformats.org/drawingml/2006/main" l="8269" t="0" r="8269" b="0"/>
          <a:stretch xmlns:a="http://schemas.openxmlformats.org/drawingml/2006/main"/>
        </p:blipFill>
        <p:spPr>
          <a:xfrm xmlns:a="http://schemas.openxmlformats.org/drawingml/2006/main">
            <a:off x="7899094" y="0"/>
            <a:ext cx="4292906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833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Problem and project scope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Employee support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Employees need IT instructions and reliable ticket updates.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 chat interface makes these local services accessible through natural language.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Local implementation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Python, LangGraph, Streamlit and SQLite.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The scope follows the assignment: fictional data and achievable local execution.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DE525C3-6A65-3281-3715-AE2CF21E370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855F9338-C523-361B-6D81-B9AAD76BBB6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509200BE-15E5-FE37-6AFE-A51B10E1A9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Three support tools</a:t>
            </a:r>
          </a:p>
        </p:txBody>
      </p:sp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4D83715-924E-FD86-6E33-16B595E7DE7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3365500"/>
            <a:ext cx="3568700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Knowledge search</a:t>
            </a:r>
            <a:endParaRPr sz="1800"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Search article titles and tags.</a:t>
            </a:r>
            <a:endParaRPr sz="1800"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/>
            </a:r>
            <a:endParaRPr sz="1800"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Return guidance with article IDs.</a:t>
            </a:r>
            <a:endParaRPr sz="18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49D4B6C8-289F-F081-BCAE-309463E70BA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8229600" y="3365500"/>
            <a:ext cx="3568700" cy="26289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 b="0" i="0" u="none" cap="none" spc="0">
                <a:ln>
                  <a:noFill/>
                </a:ln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Ticket creation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 b="0" i="0" u="none" cap="none" spc="0">
                <a:ln>
                  <a:noFill/>
                </a:ln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Validate a confirmed draft.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 b="0" i="0" u="none" cap="none" spc="0">
                <a:ln>
                  <a:noFill/>
                </a:ln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Create or reuse an active ticket.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4A749CC-0D72-2ABA-CEDC-7DFC7D138B4B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4311650" y="3365500"/>
            <a:ext cx="3568700" cy="26289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 b="0" i="0" u="none" cap="none" spc="0">
                <a:ln>
                  <a:noFill/>
                </a:ln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Ticket lookup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 b="0" i="0" u="none" cap="none" spc="0">
                <a:ln>
                  <a:noFill/>
                </a:ln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Read tickets for the selected employee.</a:t>
            </a:r>
          </a:p>
          <a:p xmlns:a="http://schemas.openxmlformats.org/drawingml/2006/main">
            <a:pPr marL="0" indent="0">
              <a:buNone/>
            </a:pPr>
            <a:r>
              <a:t/>
            </a:r>
            <a:endParaRPr/>
          </a:p>
          <a:p xmlns:a="http://schemas.openxmlformats.org/drawingml/2006/main">
            <a:pPr marL="0" indent="0">
              <a:buNone/>
              <a:def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75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Display stored status and ID.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934569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LangGraph architecture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Decision and routing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The planner chooses a function.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Conditional edges route to draft preparation, tool execution or response.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Execution and response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Local tools access SQLite.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The response node formats actual results. Conversation state returns to the next turn.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LLM function calling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Model decision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 system prompt describes allowed actions.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The model receives the current request and bounded conversation context.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Application control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Strict function schemas and Pydantic validate arguments.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Employee scope and write confirmation stay in application code.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Conversation state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Retained across turns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Employee ID and recent history.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Pending creation intent, ticket draft, latest result and workflow trace.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Lifecycle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Streamlit retains the assistant in its browser session.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Reset discards the draft. Saved SQLite tickets remain.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AC3A10F-8642-8154-9AEA-7110D289C6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BBF0163-E4B1-61D1-776D-45470B16F0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9759E2FE-9F02-E1B4-EBBC-AA8624ACC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Ticket creation workflow</a:t>
            </a:r>
          </a:p>
        </p:txBody>
      </p:sp>
      <p:cxnSp>
        <p:nvCxnSpPr>
          <p:cNvPr id="23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18" y="3373753"/>
            <a:ext cx="12245400" cy="3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39A86B1D-EA5D-3FA6-7D83-8F21D70E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solidFill>
              <a:schemeClr val="tx1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A1013DAF-A2C3-BC42-73D5-9D8AB55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solidFill>
              <a:schemeClr val="tx1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4654A74A-2C40-A8C6-E9F9-43C58A3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solidFill>
              <a:schemeClr val="tx1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C75857-E8EA-1B37-0464-3C7048D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1. COLLECT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AEECBA-C292-6302-8A8E-7EB14A54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87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2. REVIEW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5982BB0-2387-9BAA-9F14-F45500C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49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3. COMMIT</a:t>
            </a:r>
          </a:p>
        </p:txBody>
      </p:sp>
      <p:sp>
        <p:nvSpPr>
          <p:cNvPr id="8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D0EE3B6B-F07C-271E-2F97-41D7686F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8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Draft confirmation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Show title and description. Wait for confirm or cancel.</a:t>
            </a:r>
          </a:p>
        </p:txBody>
      </p:sp>
      <p:sp>
        <p:nvSpPr>
          <p:cNvPr id="15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B3EA0E10-C778-6971-AFB5-9B9B52B0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73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Issue details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Ask for missing information and retain creation intent.</a:t>
            </a:r>
          </a:p>
        </p:txBody>
      </p:sp>
      <p:sp>
        <p:nvSpPr>
          <p:cNvPr id="19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5A9F39A9-7A23-0F85-F761-1AB9FA6B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917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Validated write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Check duplicates within a transaction and return the ID.</a:t>
            </a:r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Data and duplicate protection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Fictional sample data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3 employees, 6 articles and 3 tickets.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Startup seeds the SQLite database without duplicating existing records.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Atomic writes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Normalize the description and compute a fingerprint.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 unique active-ticket index prevents simultaneous duplicate inserts.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Safety and failure handling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Before an action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Reject malformed model calls.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Validate employee and field lengths. Require confirmation for a draft.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When a dependency fails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Return a clear error without invented facts.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Bound API retries and record failure categories without logging secrets.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Streamlit experience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Chat workspace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Conversation history, sample prompts and employee selection.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Clear conversation resets temporary state.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Visible actions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Expandable tool results and node traces.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 mode label distinguishes offline rules from the LLM planner.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Verification results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21 tests passed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Graph workflows, storage, model contract and Streamlit chat/reset.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 concurrency test checks 12 requests across 6 workers.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Evidence boundary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The offline demo completed successfully.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Live model behavior still requires an API key and an acceptance run.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AC3A10F-8642-8154-9AEA-7110D289C6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BBF0163-E4B1-61D1-776D-45470B16F0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9759E2FE-9F02-E1B4-EBBC-AA8624ACC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evaluation walkthrough</a:t>
            </a:r>
          </a:p>
        </p:txBody>
      </p:sp>
      <p:cxnSp>
        <p:nvCxnSpPr>
          <p:cNvPr id="23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18" y="3373753"/>
            <a:ext cx="12245400" cy="3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39A86B1D-EA5D-3FA6-7D83-8F21D70E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solidFill>
              <a:schemeClr val="tx1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A1013DAF-A2C3-BC42-73D5-9D8AB55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solidFill>
              <a:schemeClr val="tx1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4654A74A-2C40-A8C6-E9F9-43C58A3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solidFill>
              <a:schemeClr val="tx1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C75857-E8EA-1B37-0464-3C7048D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GUIDANCE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AEECBA-C292-6302-8A8E-7EB14A54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87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TICKET STATUS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5982BB0-2387-9BAA-9F14-F45500C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49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35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NEW ISSUE</a:t>
            </a:r>
          </a:p>
        </p:txBody>
      </p:sp>
      <p:sp>
        <p:nvSpPr>
          <p:cNvPr id="8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D0EE3B6B-F07C-271E-2F97-41D7686F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8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Laptop issue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Show IT-1001 and the stored In progress status.</a:t>
            </a:r>
          </a:p>
        </p:txBody>
      </p:sp>
      <p:sp>
        <p:nvSpPr>
          <p:cNvPr id="15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B3EA0E10-C778-6971-AFB5-9B9B52B0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73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VPN password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Show a retrieved article and its source ID.</a:t>
            </a:r>
          </a:p>
        </p:txBody>
      </p:sp>
      <p:sp>
        <p:nvSpPr>
          <p:cNvPr id="19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5A9F39A9-7A23-0F85-F761-1AB9FA6B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917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Printer issue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Collect details, confirm, then repeat to demonstrate reuse.</a:t>
            </a:r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Deployment boundaries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Included engineering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Configuration, tests, CI, secret exclusions and local persistence.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 reproducible setup and operational guide.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Before enterprise use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Add authenticated identity, access control and durable sessions.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21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Verify model quality, monitoring, backups and deployment security.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979AC8B6-148F-970D-D8DE-AD2E0AB19BC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738755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7200"/>
              <a:t>Project submission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A8E1F2E1-786A-48AE-5E52-00722828427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973320"/>
            <a:ext cx="3568700" cy="108024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725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Rajat Singodia</a:t>
            </a:r>
          </a:p>
          <a:p xmlns:a="http://schemas.openxmlformats.org/drawingml/2006/main">
            <a:pPr>
              <a:defRPr sz="172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725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Source, report and demonstration guide</a:t>
            </a:r>
          </a:p>
          <a:p xmlns:a="http://schemas.openxmlformats.org/drawingml/2006/main">
            <a:pPr>
              <a:defRPr sz="1725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725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Questions and discussion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A94AB779-D110-4562-575A-800C929A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92241"/>
            <a:ext cx="16129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defRPr>
            </a:pPr>
            <a:r>
              <a:rPr sz="1800">
                <a:solidFill>
                  <a:srgbClr val="FFFFFF"/>
                </a:solidFill>
                <a:latin typeface="OpenAI Sans"/>
                <a:ea typeface="OpenAI Sans"/>
                <a:cs typeface="OpenAI Sans"/>
              </a:rPr>
              <a:t>Project 3</a:t>
            </a:r>
          </a:p>
        </p:txBody>
      </p:sp>
    </p:spTree>
    <p:extLst>
      <p:ext uri="{BB962C8B-B14F-4D97-AF65-F5344CB8AC3E}">
        <p14:creationId xmlns:p14="http://schemas.microsoft.com/office/powerpoint/2010/main" val="3653678558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2026-09-06T07:58:55.2060000Z</dcterms:created>
  <dcterms:modified xsi:type="dcterms:W3CDTF">2026-09-06T07:58:55.2070000Z</dcterms:modified>
</coreProperties>
</file>